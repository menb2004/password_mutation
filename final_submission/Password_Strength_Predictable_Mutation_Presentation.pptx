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2" r:id="rId23"/>
    <p:sldId id="273" r:id="rId24"/>
    <p:sldId id="274" r:id="rId25"/>
    <p:sldId id="268" r:id="rId19"/>
    <p:sldId id="275" r:id="rId26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PASSWORD STRENGTH 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Predictable Mutation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GROUP 3</a:t>
            </a:r>
          </a:p>
          <a:p>
            <a:pPr>
              <a:spcAft>
                <a:spcPts val="1000"/>
              </a:spcAft>
              <a:defRPr sz="2200"/>
            </a:pPr>
            <a:r>
              <a:t>Mathematical modelling • probability • entropy • statistical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Conventional checkers emphasize length and character diversity.</a:t>
            </a:r>
          </a:p>
          <a:p>
            <a:pPr>
              <a:spcAft>
                <a:spcPts val="1000"/>
              </a:spcAft>
              <a:defRPr sz="2000"/>
            </a:pPr>
            <a:r>
              <a:t>Human users often modify common words using predictable rules.</a:t>
            </a:r>
          </a:p>
          <a:p>
            <a:pPr>
              <a:spcAft>
                <a:spcPts val="1000"/>
              </a:spcAft>
              <a:defRPr sz="2000"/>
            </a:pPr>
            <a:r>
              <a:t>Example pattern: Password → Password123 → Password123!</a:t>
            </a:r>
          </a:p>
          <a:p>
            <a:pPr>
              <a:spcAft>
                <a:spcPts val="1000"/>
              </a:spcAft>
              <a:defRPr sz="2000"/>
            </a:pPr>
            <a:r>
              <a:t>The underlying structure can remain predictable even when the final password looks complex.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Measure theoretical password strength.</a:t>
            </a:r>
          </a:p>
          <a:p>
            <a:pPr>
              <a:spcAft>
                <a:spcPts val="1000"/>
              </a:spcAft>
              <a:defRPr sz="2000"/>
            </a:pPr>
            <a:r>
              <a:t>Detect dictionary bases and predictable mutations.</a:t>
            </a:r>
          </a:p>
          <a:p>
            <a:pPr>
              <a:spcAft>
                <a:spcPts val="1000"/>
              </a:spcAft>
              <a:defRPr sz="2000"/>
            </a:pPr>
            <a:r>
              <a:t>Quantify mutation vulnerability mathematically.</a:t>
            </a:r>
          </a:p>
          <a:p>
            <a:pPr>
              <a:spcAft>
                <a:spcPts val="1000"/>
              </a:spcAft>
              <a:defRPr sz="2000"/>
            </a:pPr>
            <a:r>
              <a:t>Combine entropy and mutation vulnerability into an experimental PSI.</a:t>
            </a:r>
          </a:p>
          <a:p>
            <a:pPr>
              <a:spcAft>
                <a:spcPts val="1000"/>
              </a:spcAft>
              <a:defRPr sz="2000"/>
            </a:pPr>
            <a:r>
              <a:t>Validate the model using controlled experiments.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Mathematical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Search space: theoretical number of possible strings.</a:t>
            </a:r>
          </a:p>
          <a:p>
            <a:pPr>
              <a:spcAft>
                <a:spcPts val="1000"/>
              </a:spcAft>
              <a:defRPr sz="2000"/>
            </a:pPr>
            <a:r>
              <a:t>Entropy: information-theoretic uncertainty under a uniform character model.</a:t>
            </a:r>
          </a:p>
          <a:p>
            <a:pPr>
              <a:spcAft>
                <a:spcPts val="1000"/>
              </a:spcAft>
              <a:defRPr sz="2000"/>
            </a:pPr>
            <a:r>
              <a:t>Probability: empirical frequency of mutation patterns.</a:t>
            </a:r>
          </a:p>
          <a:p>
            <a:pPr>
              <a:spcAft>
                <a:spcPts val="1000"/>
              </a:spcAft>
              <a:defRPr sz="2000"/>
            </a:pPr>
            <a:r>
              <a:t>MVS: weighted representation of predictable construction.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/>
              <a:t>S = N^L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Entropy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/>
              <a:t>H = L log₂(N)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 = password length</a:t>
            </a:r>
          </a:p>
          <a:p>
            <a:pPr>
              <a:spcAft>
                <a:spcPts val="1000"/>
              </a:spcAft>
              <a:defRPr sz="1900"/>
            </a:pPr>
            <a:r>
              <a:t>N = assumed character-set size</a:t>
            </a:r>
          </a:p>
          <a:p>
            <a:pPr>
              <a:spcAft>
                <a:spcPts val="1000"/>
              </a:spcAft>
              <a:defRPr sz="1900"/>
            </a:pPr>
            <a:r>
              <a:t>Higher H means greater theoretical uncertainty.</a:t>
            </a:r>
          </a:p>
          <a:p>
            <a:pPr>
              <a:spcAft>
                <a:spcPts val="1000"/>
              </a:spcAft>
              <a:defRPr sz="1900"/>
            </a:pPr>
            <a:r>
              <a:t>Human-generated passwords may violate the uniform/independent assumption.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Predictable Mutation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Dictionary-base dependence</a:t>
            </a:r>
          </a:p>
          <a:p>
            <a:pPr>
              <a:spcAft>
                <a:spcPts val="1000"/>
              </a:spcAft>
              <a:defRPr sz="2000"/>
            </a:pPr>
            <a:r>
              <a:t>Capitalization</a:t>
            </a:r>
          </a:p>
          <a:p>
            <a:pPr>
              <a:spcAft>
                <a:spcPts val="1000"/>
              </a:spcAft>
              <a:defRPr sz="2000"/>
            </a:pPr>
            <a:r>
              <a:t>Character substitutions</a:t>
            </a:r>
          </a:p>
          <a:p>
            <a:pPr>
              <a:spcAft>
                <a:spcPts val="1000"/>
              </a:spcAft>
              <a:defRPr sz="2000"/>
            </a:pPr>
            <a:r>
              <a:t>Numeric suffixes</a:t>
            </a:r>
          </a:p>
          <a:p>
            <a:pPr>
              <a:spcAft>
                <a:spcPts val="1000"/>
              </a:spcAft>
              <a:defRPr sz="2000"/>
            </a:pPr>
            <a:r>
              <a:t>Symbol suffixes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/>
              <a:t>MVSₑₘₚ = 100 × [Σ(wᵢ p̂ᵢ xᵢ)] / [Σ(wᵢ xᵢ)]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Empirical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/>
              <a:t>p̂ = (k + 1) / (n + 2)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/>
              <a:t>I = −log₂(p̂)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Laplace smoothing avoids zero-probability estimates.</a:t>
            </a:r>
          </a:p>
          <a:p>
            <a:pPr>
              <a:spcAft>
                <a:spcPts val="1000"/>
              </a:spcAft>
              <a:defRPr sz="1900"/>
            </a:pPr>
            <a:r>
              <a:t>Frequent predictable patterns have lower surprisal.</a:t>
            </a:r>
          </a:p>
          <a:p>
            <a:pPr>
              <a:spcAft>
                <a:spcPts val="1000"/>
              </a:spcAft>
              <a:defRPr sz="1900"/>
            </a:pPr>
            <a:r>
              <a:t>The probabilities are estimated from the development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Password Security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/>
              <a:t>Eₙₒᵣₘ = min(H / Href,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/>
              <a:t>PSI = 100 × Eₙₒᵣₘ × (1 − MVS/100)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PSI is a project-defined experimental metric.</a:t>
            </a:r>
          </a:p>
          <a:p>
            <a:pPr>
              <a:spcAft>
                <a:spcPts val="1000"/>
              </a:spcAft>
              <a:defRPr sz="1800"/>
            </a:pPr>
            <a:r>
              <a:t>It is not an industry-standard security score.</a:t>
            </a:r>
          </a:p>
          <a:p>
            <a:pPr>
              <a:spcAft>
                <a:spcPts val="1000"/>
              </a:spcAft>
              <a:defRPr sz="1800"/>
            </a:pPr>
            <a:r>
              <a:t>The model combines theoretical uncertainty with predictable construction.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System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56032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Password Input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95728" y="2816352"/>
            <a:ext cx="32004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88920" y="256032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Entropy &amp; Search Space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27448" y="2816352"/>
            <a:ext cx="32004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56032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Dictionary / Mutation Detection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59168" y="2816352"/>
            <a:ext cx="32004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59" y="256032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MVS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90888" y="2816352"/>
            <a:ext cx="32004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2560320"/>
            <a:ext cx="2011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PSI + Explanation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Experimental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Phase 1 — Mathematical formulation</a:t>
            </a:r>
          </a:p>
          <a:p>
            <a:pPr>
              <a:spcAft>
                <a:spcPts val="1000"/>
              </a:spcAft>
              <a:defRPr sz="2000"/>
            </a:pPr>
            <a:r>
              <a:t>Phase 2 — Controlled synthetic dataset</a:t>
            </a:r>
          </a:p>
          <a:p>
            <a:pPr>
              <a:spcAft>
                <a:spcPts val="1000"/>
              </a:spcAft>
              <a:defRPr sz="2000"/>
            </a:pPr>
            <a:r>
              <a:t>Phase 3 — Empirical probability model</a:t>
            </a:r>
          </a:p>
          <a:p>
            <a:pPr>
              <a:spcAft>
                <a:spcPts val="1000"/>
              </a:spcAft>
              <a:defRPr sz="2000"/>
            </a:pPr>
            <a:r>
              <a:t>Phase 4 — Sensitivity and stability analysis</a:t>
            </a:r>
          </a:p>
          <a:p>
            <a:pPr>
              <a:spcAft>
                <a:spcPts val="1000"/>
              </a:spcAft>
              <a:defRPr sz="2000"/>
            </a:pPr>
            <a:r>
              <a:t>Phase 5 — Independent calibration and held-out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Phase 4 —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Tested five weight profiles.</a:t>
            </a:r>
          </a:p>
          <a:p>
            <a:pPr>
              <a:spcAft>
                <a:spcPts val="1000"/>
              </a:spcAft>
              <a:defRPr sz="2000"/>
            </a:pPr>
            <a:r>
              <a:t>Tested Href values from 40 to 140 bits.</a:t>
            </a:r>
          </a:p>
          <a:p>
            <a:pPr>
              <a:spcAft>
                <a:spcPts val="1000"/>
              </a:spcAft>
              <a:defRPr sz="2000"/>
            </a:pPr>
            <a:r>
              <a:t>The synthetic experiment retained positive PSI separation across the tested grid.</a:t>
            </a:r>
          </a:p>
          <a:p>
            <a:pPr>
              <a:spcAft>
                <a:spcPts val="1000"/>
              </a:spcAft>
              <a:defRPr sz="2000"/>
            </a:pPr>
            <a:r>
              <a:t>Rank stability was also examined using Spearman correlation.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Phase 5 — Independent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Calibration selected Href = 50.</a:t>
            </a:r>
          </a:p>
          <a:p>
            <a:pPr>
              <a:spcAft>
                <a:spcPts val="1000"/>
              </a:spcAft>
              <a:defRPr sz="2000"/>
            </a:pPr>
            <a:r>
              <a:t>Calibration threshold = 69.0.</a:t>
            </a:r>
          </a:p>
          <a:p>
            <a:pPr>
              <a:spcAft>
                <a:spcPts val="1000"/>
              </a:spcAft>
              <a:defRPr sz="2000"/>
            </a:pPr>
            <a:r>
              <a:t>Held-out accuracy = 1.00.</a:t>
            </a:r>
          </a:p>
          <a:p>
            <a:pPr>
              <a:spcAft>
                <a:spcPts val="1000"/>
              </a:spcAft>
              <a:defRPr sz="2000"/>
            </a:pPr>
            <a:r>
              <a:t>Held-out PSI ROC-AUC = 1.00.</a:t>
            </a:r>
          </a:p>
          <a:p>
            <a:pPr>
              <a:spcAft>
                <a:spcPts val="1000"/>
              </a:spcAft>
              <a:defRPr sz="2000"/>
            </a:pPr>
            <a:r>
              <a:t>These are results on a controlled synthetic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core analysis engine</a:t>
            </a:r>
          </a:p>
          <a:p>
            <a:pPr>
              <a:spcAft>
                <a:spcPts val="1000"/>
              </a:spcAft>
              <a:defRPr sz="2000"/>
            </a:pPr>
            <a:r>
              <a:t>Streamlit interactive interface</a:t>
            </a:r>
          </a:p>
          <a:p>
            <a:pPr>
              <a:spcAft>
                <a:spcPts val="1000"/>
              </a:spcAft>
              <a:defRPr sz="2000"/>
            </a:pPr>
            <a:r>
              <a:t>CSV-based experiment datasets</a:t>
            </a:r>
          </a:p>
          <a:p>
            <a:pPr>
              <a:spcAft>
                <a:spcPts val="1000"/>
              </a:spcAft>
              <a:defRPr sz="2000"/>
            </a:pPr>
            <a:r>
              <a:t>Automated statistical analysis</a:t>
            </a:r>
          </a:p>
          <a:p>
            <a:pPr>
              <a:spcAft>
                <a:spcPts val="1000"/>
              </a:spcAft>
              <a:defRPr sz="2000"/>
            </a:pPr>
            <a:r>
              <a:t>Graphs and reproducible result files</a:t>
            </a:r>
          </a:p>
          <a:p>
            <a:pPr>
              <a:spcAft>
                <a:spcPts val="1000"/>
              </a:spcAft>
              <a:defRPr sz="2000"/>
            </a:pPr>
            <a:r>
              <a:t>Unit-test scaffold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Synthetic data are not equivalent to real password populations.</a:t>
            </a:r>
          </a:p>
          <a:p>
            <a:pPr>
              <a:spcAft>
                <a:spcPts val="1000"/>
              </a:spcAft>
              <a:defRPr sz="2000"/>
            </a:pPr>
            <a:r>
              <a:t>Dictionary coverage is limited.</a:t>
            </a:r>
          </a:p>
          <a:p>
            <a:pPr>
              <a:spcAft>
                <a:spcPts val="1000"/>
              </a:spcAft>
              <a:defRPr sz="2000"/>
            </a:pPr>
            <a:r>
              <a:t>Mutation rules are simplified.</a:t>
            </a:r>
          </a:p>
          <a:p>
            <a:pPr>
              <a:spcAft>
                <a:spcPts val="1000"/>
              </a:spcAft>
              <a:defRPr sz="2000"/>
            </a:pPr>
            <a:r>
              <a:t>MVS weights are project-defined.</a:t>
            </a:r>
          </a:p>
          <a:p>
            <a:pPr>
              <a:spcAft>
                <a:spcPts val="1000"/>
              </a:spcAft>
              <a:defRPr sz="2000"/>
            </a:pPr>
            <a:r>
              <a:t>PSI has not been validated against actual cracking outcomes.</a:t>
            </a:r>
          </a:p>
          <a:p>
            <a:pPr>
              <a:spcAft>
                <a:spcPts val="1000"/>
              </a:spcAft>
              <a:defRPr sz="2000"/>
            </a:pPr>
            <a:r>
              <a:t>Real-world validation requires properly licensed research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project turns predictable password construction into measurable mathematical features.</a:t>
            </a:r>
          </a:p>
          <a:p>
            <a:pPr>
              <a:spcAft>
                <a:spcPts val="1000"/>
              </a:spcAft>
              <a:defRPr sz="2000"/>
            </a:pPr>
            <a:r>
              <a:t>Entropy provides theoretical uncertainty; MVS represents predictable structure.</a:t>
            </a:r>
          </a:p>
          <a:p>
            <a:pPr>
              <a:spcAft>
                <a:spcPts val="1000"/>
              </a:spcAft>
              <a:defRPr sz="2000"/>
            </a:pPr>
            <a:r>
              <a:t>Sensitivity analysis and held-out validation provide a stronger experimental workflow.</a:t>
            </a:r>
          </a:p>
          <a:p>
            <a:pPr>
              <a:spcAft>
                <a:spcPts val="1000"/>
              </a:spcAft>
              <a:defRPr sz="2000"/>
            </a:pPr>
            <a:r>
              <a:t>The current results demonstrate feasibility, not universal security prediction.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468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/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438"/>
                </a:solidFill>
              </a:defRPr>
            </a:pPr>
            <a:r>
              <a:t>Comparison with Existing Password Strength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Conventional Entropy Limitation: </a:t>
            </a:r>
            <a:r>
              <a:rPr sz="1600">
                <a:solidFill>
                  <a:srgbClr val="323232"/>
                </a:solidFill>
              </a:rPr>
              <a:t>Assumes characters are chosen independently and uniformly at random (H = L * log2(N)). Severely overestimates human-constructed passwords.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Existing Estimator Approach (Dropbox zxcvbn): </a:t>
            </a:r>
            <a:r>
              <a:rPr sz="1600">
                <a:solidFill>
                  <a:srgbClr val="323232"/>
                </a:solidFill>
              </a:rPr>
              <a:t>Employs dictionary matching, spatial keyboard walks, and l33t substitutions. Estimates cracking guesses and realistic offline crack times.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Proposed Mutation Vulnerability (MVS): </a:t>
            </a:r>
            <a:r>
              <a:rPr sz="1600">
                <a:solidFill>
                  <a:srgbClr val="323232"/>
                </a:solidFill>
              </a:rPr>
              <a:t>Provides an explicit, transparent decomposition: MVS = 100 * [sum(w_i * p_hat_i * x_i)] / [sum(w_i * x_i)]. Quantifies specific predictable human construction habits.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Combined Security Index (PSI): </a:t>
            </a:r>
            <a:r>
              <a:rPr sz="1600">
                <a:solidFill>
                  <a:srgbClr val="323232"/>
                </a:solidFill>
              </a:rPr>
              <a:t>Integrates Shannon entropy with mutation penalties: PSI = 100 * E_norm * (1 - MVS/100). Preserves character diversity while penalizing predictable roots.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Scientific Perspective: </a:t>
            </a:r>
            <a:r>
              <a:rPr sz="1600">
                <a:solidFill>
                  <a:srgbClr val="323232"/>
                </a:solidFill>
              </a:rPr>
              <a:t>MVS/PSI and zxcvbn offer complementary insights: zxcvbn focuses on guessability, while MVS provides an auditable, component-by-component vulnerability score.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438"/>
                </a:solidFill>
              </a:defRPr>
            </a:pPr>
            <a:r>
              <a:t>Experimental Baseline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Controlled Synthetic Benchmark (n = 330): </a:t>
            </a:r>
            <a:r>
              <a:rPr sz="1600">
                <a:solidFill>
                  <a:srgbClr val="323232"/>
                </a:solidFill>
              </a:rPr>
              <a:t>105 predictable mutation instances across 7 families + 225 synthetic random-like controls.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Proposed PSI Model: </a:t>
            </a:r>
            <a:r>
              <a:rPr sz="1600">
                <a:solidFill>
                  <a:srgbClr val="323232"/>
                </a:solidFill>
              </a:rPr>
              <a:t>Accuracy: 97.88% | Precision: 1.0000 | Recall: 0.9333 | ROC-AUC: 1.0000 | PR-AUC: 1.0000 (Calibrated at H_ref = 50, tau = 69.0).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Proposed MVS Model: </a:t>
            </a:r>
            <a:r>
              <a:rPr sz="1600">
                <a:solidFill>
                  <a:srgbClr val="323232"/>
                </a:solidFill>
              </a:rPr>
              <a:t>Accuracy: 100.0% | Precision: 1.0000 | Recall: 1.0000 | ROC-AUC: 1.0000 | PR-AUC: 1.0000 (MVS &gt; 0 separates all families).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Dropbox zxcvbn (Score &lt;= 2 as Vulnerable): </a:t>
            </a:r>
            <a:r>
              <a:rPr sz="1600">
                <a:solidFill>
                  <a:srgbClr val="323232"/>
                </a:solidFill>
              </a:rPr>
              <a:t>Accuracy: 92.42% | Precision: 0.8077 | Recall: 1.0000 | ROC-AUC: 0.9937 | PR-AUC: 0.9780.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Conventional Entropy-Only (&lt; Median): </a:t>
            </a:r>
            <a:r>
              <a:rPr sz="1600">
                <a:solidFill>
                  <a:srgbClr val="323232"/>
                </a:solidFill>
              </a:rPr>
              <a:t>Accuracy: 80.00% | Precision: 0.6211 | Recall: 0.9524 | ROC-AUC: 0.9365 | PR-AUC: 0.8913.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Key Finding: </a:t>
            </a:r>
            <a:r>
              <a:rPr sz="1600">
                <a:solidFill>
                  <a:srgbClr val="323232"/>
                </a:solidFill>
              </a:rPr>
              <a:t>Conventional entropy shows high false-positive security for predictable passwords. Both PSI and zxcvbn successfully detect dictionary-dependent mutations.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438"/>
                </a:solidFill>
              </a:defRPr>
            </a:pPr>
            <a:r>
              <a:t>Example: Entropy vs Predictable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Password A — 'Password123!' (Predictable Suffix): </a:t>
            </a:r>
            <a:r>
              <a:rPr sz="1600">
                <a:solidFill>
                  <a:srgbClr val="323232"/>
                </a:solidFill>
              </a:rPr>
              <a:t>Length: 12 | Pool: 94 | Conventional Meter: 100/100 | Entropy: 78.66 bits | MVS: 80.0/100 | Proposed PSI: 19.7/100 (High Risk) | zxcvbn: 1/4 (Weak, ~4s crack time).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Password B — 'vQ7mK2xR9zP4' (Random-Like Control): </a:t>
            </a:r>
            <a:r>
              <a:rPr sz="1600">
                <a:solidFill>
                  <a:srgbClr val="323232"/>
                </a:solidFill>
              </a:rPr>
              <a:t>Length: 12 | Pool: 62 | Conventional Meter: 81.2/100 | Entropy: 71.45 bits | MVS: 0.0/100 | Proposed PSI: 89.3/100 (Higher Security) | zxcvbn: 4/4 (Strong, ~3y crack time).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Password C — 'P@ssword2026!' (Complex Multi-Layer Mutation): </a:t>
            </a:r>
            <a:r>
              <a:rPr sz="1600">
                <a:solidFill>
                  <a:srgbClr val="323232"/>
                </a:solidFill>
              </a:rPr>
              <a:t>Length: 13 | Pool: 94 | Conventional Meter: 100/100 | Entropy: 85.21 bits | MVS: 100.0/100 | Proposed PSI: 0.0/100 (High Risk) | zxcvbn: 2/4 (Fair, ~17m crack time).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Core Takeaway: </a:t>
            </a:r>
            <a:r>
              <a:rPr sz="1600">
                <a:solidFill>
                  <a:srgbClr val="323232"/>
                </a:solidFill>
              </a:rPr>
              <a:t>Higher theoretical entropy does NOT mean higher security when predictable mutations are present. The proposed model correctly penalizes dictionary-derived passwords while protecting random controls.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438"/>
                </a:solidFill>
              </a:defRPr>
            </a:pPr>
            <a:r>
              <a:t>Final System and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Core Analysis Engine (`password_analyzer`): </a:t>
            </a:r>
            <a:r>
              <a:rPr sz="1600">
                <a:solidFill>
                  <a:srgbClr val="323232"/>
                </a:solidFill>
              </a:rPr>
              <a:t>Implements theoretical search space, entropy, fixed MVS, empirical probability MVS, PSI, and calibrated classification.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Baseline Comparator &amp; Public Dataset Pipeline: </a:t>
            </a:r>
            <a:r>
              <a:rPr sz="1600">
                <a:solidFill>
                  <a:srgbClr val="323232"/>
                </a:solidFill>
              </a:rPr>
              <a:t>Local integration with Dropbox zxcvbn; privacy-preserving CSV importer computing aggregate telemetry without exposing raw credentials.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Reproducible Experimental Suite (`experiments.py`): </a:t>
            </a:r>
            <a:r>
              <a:rPr sz="1600">
                <a:solidFill>
                  <a:srgbClr val="323232"/>
                </a:solidFill>
              </a:rPr>
              <a:t>Automated pipeline generating baseline comparison CSV, formal Markdown reports, and 8 publication-quality figures.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Interactive Streamlit Application (`app.py`): </a:t>
            </a:r>
            <a:r>
              <a:rPr sz="1600">
                <a:solidFill>
                  <a:srgbClr val="323232"/>
                </a:solidFill>
              </a:rPr>
              <a:t>Comprehensive UI with Model Comparison deep dive, 3-password benchmark, empirical surprisal tables, visualization browser, and math formulations.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438"/>
                </a:solidFill>
              </a:rPr>
              <a:t>Verification &amp; Academic Deliverables: </a:t>
            </a:r>
            <a:r>
              <a:rPr sz="1600">
                <a:solidFill>
                  <a:srgbClr val="323232"/>
                </a:solidFill>
              </a:rPr>
              <a:t>8/8 unit tests passing; updated DOCX academic report; complete mathematical documentation and project summary.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